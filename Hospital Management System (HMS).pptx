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lus Jakarta Sans ExtraBold"/>
      <p:bold r:id="rId20"/>
      <p:boldItalic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Plus Jakarta Sans"/>
      <p:regular r:id="rId30"/>
      <p:bold r:id="rId31"/>
      <p:italic r:id="rId32"/>
      <p:boldItalic r:id="rId33"/>
    </p:embeddedFont>
    <p:embeddedFont>
      <p:font typeface="Inter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ExtraBold-bold.fntdata"/><Relationship Id="rId22" Type="http://schemas.openxmlformats.org/officeDocument/2006/relationships/font" Target="fonts/InterSemiBold-regular.fntdata"/><Relationship Id="rId21" Type="http://schemas.openxmlformats.org/officeDocument/2006/relationships/font" Target="fonts/PlusJakartaSansExtraBold-boldItalic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-bold.fntdata"/><Relationship Id="rId30" Type="http://schemas.openxmlformats.org/officeDocument/2006/relationships/font" Target="fonts/PlusJakartaSans-regular.fntdata"/><Relationship Id="rId11" Type="http://schemas.openxmlformats.org/officeDocument/2006/relationships/slide" Target="slides/slide6.xml"/><Relationship Id="rId33" Type="http://schemas.openxmlformats.org/officeDocument/2006/relationships/font" Target="fonts/PlusJakartaSans-boldItalic.fntdata"/><Relationship Id="rId10" Type="http://schemas.openxmlformats.org/officeDocument/2006/relationships/slide" Target="slides/slide5.xml"/><Relationship Id="rId32" Type="http://schemas.openxmlformats.org/officeDocument/2006/relationships/font" Target="fonts/PlusJakartaSans-italic.fntdata"/><Relationship Id="rId13" Type="http://schemas.openxmlformats.org/officeDocument/2006/relationships/slide" Target="slides/slide8.xml"/><Relationship Id="rId35" Type="http://schemas.openxmlformats.org/officeDocument/2006/relationships/font" Target="fonts/InterMedium-bold.fntdata"/><Relationship Id="rId12" Type="http://schemas.openxmlformats.org/officeDocument/2006/relationships/slide" Target="slides/slide7.xml"/><Relationship Id="rId34" Type="http://schemas.openxmlformats.org/officeDocument/2006/relationships/font" Target="fonts/InterMedium-regular.fntdata"/><Relationship Id="rId15" Type="http://schemas.openxmlformats.org/officeDocument/2006/relationships/slide" Target="slides/slide10.xml"/><Relationship Id="rId37" Type="http://schemas.openxmlformats.org/officeDocument/2006/relationships/font" Target="fonts/Inter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InterMedium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11" Type="http://schemas.openxmlformats.org/officeDocument/2006/relationships/image" Target="../media/image10.png"/><Relationship Id="rId10" Type="http://schemas.openxmlformats.org/officeDocument/2006/relationships/image" Target="../media/image20.png"/><Relationship Id="rId12" Type="http://schemas.openxmlformats.org/officeDocument/2006/relationships/image" Target="../media/image7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35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11" Type="http://schemas.openxmlformats.org/officeDocument/2006/relationships/image" Target="../media/image11.png"/><Relationship Id="rId10" Type="http://schemas.openxmlformats.org/officeDocument/2006/relationships/image" Target="../media/image15.png"/><Relationship Id="rId12" Type="http://schemas.openxmlformats.org/officeDocument/2006/relationships/image" Target="../media/image26.png"/><Relationship Id="rId9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45.png"/><Relationship Id="rId7" Type="http://schemas.openxmlformats.org/officeDocument/2006/relationships/image" Target="../media/image39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33.png"/><Relationship Id="rId5" Type="http://schemas.openxmlformats.org/officeDocument/2006/relationships/image" Target="../media/image44.png"/><Relationship Id="rId6" Type="http://schemas.openxmlformats.org/officeDocument/2006/relationships/image" Target="../media/image51.png"/><Relationship Id="rId7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42.png"/><Relationship Id="rId5" Type="http://schemas.openxmlformats.org/officeDocument/2006/relationships/image" Target="../media/image54.png"/><Relationship Id="rId6" Type="http://schemas.openxmlformats.org/officeDocument/2006/relationships/image" Target="../media/image29.png"/><Relationship Id="rId7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Relationship Id="rId9" Type="http://schemas.openxmlformats.org/officeDocument/2006/relationships/image" Target="../media/image31.jpg"/><Relationship Id="rId5" Type="http://schemas.openxmlformats.org/officeDocument/2006/relationships/image" Target="../media/image65.png"/><Relationship Id="rId6" Type="http://schemas.openxmlformats.org/officeDocument/2006/relationships/image" Target="../media/image48.png"/><Relationship Id="rId7" Type="http://schemas.openxmlformats.org/officeDocument/2006/relationships/image" Target="../media/image38.png"/><Relationship Id="rId8" Type="http://schemas.openxmlformats.org/officeDocument/2006/relationships/image" Target="../media/image7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Relationship Id="rId10" Type="http://schemas.openxmlformats.org/officeDocument/2006/relationships/image" Target="../media/image32.jpg"/><Relationship Id="rId9" Type="http://schemas.openxmlformats.org/officeDocument/2006/relationships/image" Target="../media/image36.png"/><Relationship Id="rId5" Type="http://schemas.openxmlformats.org/officeDocument/2006/relationships/image" Target="../media/image43.png"/><Relationship Id="rId6" Type="http://schemas.openxmlformats.org/officeDocument/2006/relationships/image" Target="../media/image37.png"/><Relationship Id="rId7" Type="http://schemas.openxmlformats.org/officeDocument/2006/relationships/image" Target="../media/image52.png"/><Relationship Id="rId8" Type="http://schemas.openxmlformats.org/officeDocument/2006/relationships/image" Target="../media/image6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59.png"/><Relationship Id="rId11" Type="http://schemas.openxmlformats.org/officeDocument/2006/relationships/image" Target="../media/image63.png"/><Relationship Id="rId10" Type="http://schemas.openxmlformats.org/officeDocument/2006/relationships/image" Target="../media/image69.png"/><Relationship Id="rId12" Type="http://schemas.openxmlformats.org/officeDocument/2006/relationships/image" Target="../media/image57.png"/><Relationship Id="rId9" Type="http://schemas.openxmlformats.org/officeDocument/2006/relationships/image" Target="../media/image53.png"/><Relationship Id="rId5" Type="http://schemas.openxmlformats.org/officeDocument/2006/relationships/image" Target="../media/image40.png"/><Relationship Id="rId6" Type="http://schemas.openxmlformats.org/officeDocument/2006/relationships/image" Target="../media/image70.png"/><Relationship Id="rId7" Type="http://schemas.openxmlformats.org/officeDocument/2006/relationships/image" Target="../media/image46.png"/><Relationship Id="rId8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47.png"/><Relationship Id="rId11" Type="http://schemas.openxmlformats.org/officeDocument/2006/relationships/image" Target="../media/image1.png"/><Relationship Id="rId10" Type="http://schemas.openxmlformats.org/officeDocument/2006/relationships/image" Target="../media/image61.png"/><Relationship Id="rId9" Type="http://schemas.openxmlformats.org/officeDocument/2006/relationships/image" Target="../media/image50.png"/><Relationship Id="rId5" Type="http://schemas.openxmlformats.org/officeDocument/2006/relationships/image" Target="../media/image58.png"/><Relationship Id="rId6" Type="http://schemas.openxmlformats.org/officeDocument/2006/relationships/image" Target="../media/image64.png"/><Relationship Id="rId7" Type="http://schemas.openxmlformats.org/officeDocument/2006/relationships/image" Target="../media/image66.png"/><Relationship Id="rId8" Type="http://schemas.openxmlformats.org/officeDocument/2006/relationships/image" Target="../media/image5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2.png"/><Relationship Id="rId6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3661320"/>
            <a:ext cx="10591800" cy="166866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28700" y="1528018"/>
            <a:ext cx="10591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D9488"/>
                </a:solidFill>
                <a:latin typeface="Inter Medium"/>
                <a:ea typeface="Inter Medium"/>
                <a:cs typeface="Inter Medium"/>
                <a:sym typeface="Inter Medium"/>
              </a:rPr>
              <a:t>TAU Software Eng Clinic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28700" y="1958429"/>
            <a:ext cx="11121390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Development of a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2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Hospital Management System (HMS)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28700" y="3956595"/>
            <a:ext cx="5200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Course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28700" y="4248001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SEN 322 - Software Engineering Innovation &amp; New Technologies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419850" y="3956595"/>
            <a:ext cx="5200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Institution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419850" y="4248001"/>
            <a:ext cx="5200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Thomas Adewumi University, Oko, Kwara State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028700" y="4838551"/>
            <a:ext cx="5200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Student Name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028700" y="5129956"/>
            <a:ext cx="5200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Software Engineering Students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419850" y="4838551"/>
            <a:ext cx="5200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419850" y="5129956"/>
            <a:ext cx="5200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 May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71662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1152971"/>
            <a:ext cx="55006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Objective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1581596"/>
            <a:ext cx="5238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develop a working Hospital Management System to digitize patient records and clinic access efficiently.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2446287"/>
            <a:ext cx="55006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Methodology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2874912"/>
            <a:ext cx="5238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Agile framework utilizing </a:t>
            </a: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Scrum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3450133"/>
            <a:ext cx="55006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Scope &amp; Principles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57250" y="3878758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Deliverable: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Working increment after two timeboxed sprints of 2 weeks each.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57250" y="4629150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Frequent Delivery: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Prioritize delivering functional software consistently.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57250" y="5379541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Adaptability: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Embrace change based on feedback.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57250" y="5840462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Simplicity: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Maintain a lean, effective approach to solving clinical problems.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71662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571500" y="267146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Overview &amp; Agile Approach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9780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482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39859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859512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3362"/>
            <a:ext cx="3492549" cy="3937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03362"/>
            <a:ext cx="3492549" cy="3937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03362"/>
            <a:ext cx="3492549" cy="3937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29388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66775" y="3141612"/>
            <a:ext cx="30470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 Owner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66775" y="3570237"/>
            <a:ext cx="2901999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Maintains the product vision for the clinic software. Responsible for creating, refining, and strictly prioritizing the product backlog to maximize value.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29388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4645074" y="3141612"/>
            <a:ext cx="30470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Scrum Master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45074" y="3570237"/>
            <a:ext cx="2901999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Serves as the facilitator. Ensures adherence to the Scrum process, protects the team from external distractions, and rigorously removes developmental impediments.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29388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8423374" y="3141612"/>
            <a:ext cx="30470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Development Team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423374" y="3570237"/>
            <a:ext cx="2901999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self-organizing, cross-functional group responsible for delivering the product increments. Coordinates work by discussing tasks daily and reaching a consensus.</a:t>
            </a:r>
            <a:endParaRPr/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9175" y="246533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16524" y="24653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61486" y="246533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Scrum Team Roles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71500" y="126995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Definition: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product backlog is a dynamic, prioritized list of what needs to be done to complete the development of the product.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71500" y="2117675"/>
            <a:ext cx="9525000" cy="959941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71500" y="3220491"/>
            <a:ext cx="9525000" cy="67047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71500" y="4033837"/>
            <a:ext cx="9525000" cy="67047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71500" y="4847183"/>
            <a:ext cx="9525000" cy="67047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71500" y="5660528"/>
            <a:ext cx="9525000" cy="67047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571500" y="2117675"/>
            <a:ext cx="38100" cy="959941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1219200" y="2308175"/>
            <a:ext cx="7710487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PBI 1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 an active personnel (Doctor/Receptionist), I want a secure login interface with role selection and a passcode to access the system.</a:t>
            </a:r>
            <a:endParaRPr/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0187" y="2308175"/>
            <a:ext cx="738187" cy="25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/>
          <p:nvPr/>
        </p:nvSpPr>
        <p:spPr>
          <a:xfrm>
            <a:off x="571500" y="3220491"/>
            <a:ext cx="38100" cy="67047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1276350" y="3410991"/>
            <a:ext cx="64008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PBI 2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 a Receptionist, I want a dashboard to view the patient directory.</a:t>
            </a:r>
            <a:endParaRPr/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20187" y="3410991"/>
            <a:ext cx="738187" cy="25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/>
          <p:nvPr/>
        </p:nvSpPr>
        <p:spPr>
          <a:xfrm>
            <a:off x="571500" y="4033837"/>
            <a:ext cx="38100" cy="67047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1304925" y="4224337"/>
            <a:ext cx="58293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PBI 3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 a Receptionist, I want to add a new patient to the system.</a:t>
            </a:r>
            <a:endParaRPr/>
          </a:p>
        </p:txBody>
      </p:sp>
      <p:pic>
        <p:nvPicPr>
          <p:cNvPr descr="image.png" id="157" name="Google Shape;15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20187" y="4224337"/>
            <a:ext cx="738187" cy="25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/>
          <p:nvPr/>
        </p:nvSpPr>
        <p:spPr>
          <a:xfrm>
            <a:off x="571500" y="4847183"/>
            <a:ext cx="38100" cy="67047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1247775" y="5037683"/>
            <a:ext cx="707707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PBI 4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 a Receptionist, I want to search for patients by Reg No, Name, or Phone.</a:t>
            </a:r>
            <a:endParaRPr/>
          </a:p>
        </p:txBody>
      </p:sp>
      <p:pic>
        <p:nvPicPr>
          <p:cNvPr descr="image.png" id="160" name="Google Shape;16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20187" y="5037683"/>
            <a:ext cx="738187" cy="25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/>
          <p:nvPr/>
        </p:nvSpPr>
        <p:spPr>
          <a:xfrm>
            <a:off x="571500" y="5660528"/>
            <a:ext cx="38100" cy="67047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1247775" y="5851028"/>
            <a:ext cx="73723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PBI 5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 a Doctor, I want to view patient details including age and specific allergies.</a:t>
            </a:r>
            <a:endParaRPr/>
          </a:p>
        </p:txBody>
      </p:sp>
      <p:pic>
        <p:nvPicPr>
          <p:cNvPr descr="image.png" id="163" name="Google Shape;16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20187" y="5851028"/>
            <a:ext cx="738187" cy="258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" y="23319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725" y="3434804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7725" y="424815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7725" y="506149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7725" y="5874841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/>
        </p:nvSpPr>
        <p:spPr>
          <a:xfrm>
            <a:off x="571500" y="384125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 Backlog (High-Level)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4342"/>
            <a:ext cx="5238750" cy="4935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404342"/>
            <a:ext cx="5238750" cy="4935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1842492"/>
            <a:ext cx="14763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1009650" y="2213967"/>
            <a:ext cx="45805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Parameters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1009650" y="2642592"/>
            <a:ext cx="4362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1009650" y="2899767"/>
            <a:ext cx="43624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Sprint Goal: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Establish the application foundation, setup UI layout structure, and implement a secure clinical login system.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009650" y="3958679"/>
            <a:ext cx="43624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Duration: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2 Weeks (Strictly Timeboxed).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009650" y="4438650"/>
            <a:ext cx="43624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Focus: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Security, Routing, and Infrastructure.</a:t>
            </a:r>
            <a:endParaRPr/>
          </a:p>
        </p:txBody>
      </p:sp>
      <p:pic>
        <p:nvPicPr>
          <p:cNvPr descr="image.png" id="183" name="Google Shape;18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9900" y="1842492"/>
            <a:ext cx="14954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6819900" y="2213967"/>
            <a:ext cx="45805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Backlog Items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6819900" y="2642592"/>
            <a:ext cx="4362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7105650" y="2899767"/>
            <a:ext cx="40767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Setup Netlify hosting environment and initialize GitHub repository.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7105650" y="3650158"/>
            <a:ext cx="40767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Build the initial landing page for "TAU Software Eng Clinic".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7105650" y="4400550"/>
            <a:ext cx="40767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 PBI 1: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Role-based dropdown (e.g., Doctor, Receptionist).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7105650" y="5150941"/>
            <a:ext cx="40767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 PBI 1: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Secure passcode entry and "Unlock Ledger" authentication.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571500" y="518517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1 Plan: Authentication &amp; Foundation</a:t>
            </a:r>
            <a:endParaRPr/>
          </a:p>
        </p:txBody>
      </p:sp>
      <p:pic>
        <p:nvPicPr>
          <p:cNvPr descr="image.png" id="191" name="Google Shape;19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19900" y="291881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19900" y="366920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19900" y="44196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19900" y="5169991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7561"/>
            <a:ext cx="5238750" cy="3956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57561"/>
            <a:ext cx="5238750" cy="395614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571500" y="1629965"/>
            <a:ext cx="102489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Execution: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development team collaborated to implement the chosen sprint backlog items over the 2-week iteration.</a:t>
            </a:r>
            <a:endParaRPr/>
          </a:p>
        </p:txBody>
      </p:sp>
      <p:pic>
        <p:nvPicPr>
          <p:cNvPr descr="image.png" id="203" name="Google Shape;20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2595711"/>
            <a:ext cx="1381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8"/>
          <p:cNvSpPr txBox="1"/>
          <p:nvPr/>
        </p:nvSpPr>
        <p:spPr>
          <a:xfrm>
            <a:off x="1009650" y="2967186"/>
            <a:ext cx="45805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Successes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1009650" y="3395811"/>
            <a:ext cx="4362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1009650" y="3652986"/>
            <a:ext cx="43624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UI design for the login page flawlessly matches the clinic's branding and requirements.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1009650" y="4374802"/>
            <a:ext cx="43624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CI/CD pipeline functioned correctly, resulting in a successful Netlify deployment on the first attempt.</a:t>
            </a:r>
            <a:endParaRPr/>
          </a:p>
        </p:txBody>
      </p:sp>
      <p:pic>
        <p:nvPicPr>
          <p:cNvPr descr="image.png" id="208" name="Google Shape;20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9900" y="2595711"/>
            <a:ext cx="18669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/>
          <p:nvPr/>
        </p:nvSpPr>
        <p:spPr>
          <a:xfrm>
            <a:off x="6819900" y="2967186"/>
            <a:ext cx="45805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Challenges &amp; Actions</a:t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6819900" y="3395811"/>
            <a:ext cx="4362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6819900" y="3652986"/>
            <a:ext cx="43624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 went wrong: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Role-based routing and secure state persistence took slightly longer than initially estimated.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6819900" y="4664273"/>
            <a:ext cx="43624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Actionable Improvement: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Allocate more detailed discussion time for state management architecture during the next sprint planning session.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1 Execution &amp; Review Notes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7166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324421"/>
            <a:ext cx="14859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571500" y="1695896"/>
            <a:ext cx="55006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Goal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571500" y="2124521"/>
            <a:ext cx="5238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 the core functionality for the Receptionist role to effectively manage the patient directory and registrations.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571500" y="2989212"/>
            <a:ext cx="55006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Backlog Selected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857250" y="3417837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PBI 2: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Create the "Receptionist Dashboard" UI with navigational tabs.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857250" y="4168229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PBI 3: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Build the "+ New Patient" data entry form and validation.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857250" y="4918620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PBI 4: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Implement search bar functionality filtering by Reg No, Name, or Phone.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857250" y="5669012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PBI 5: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Design Patient directory list cards displaying vital data (Phone, DOB/Age, and Allergies).</a:t>
            </a:r>
            <a:endParaRPr/>
          </a:p>
        </p:txBody>
      </p:sp>
      <p:pic>
        <p:nvPicPr>
          <p:cNvPr descr="image.png" id="228" name="Google Shape;22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881187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 txBox="1"/>
          <p:nvPr/>
        </p:nvSpPr>
        <p:spPr>
          <a:xfrm>
            <a:off x="571500" y="438596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2 Plan: Receptionist Dashboard</a:t>
            </a:r>
            <a:endParaRPr/>
          </a:p>
        </p:txBody>
      </p:sp>
      <p:pic>
        <p:nvPicPr>
          <p:cNvPr descr="image.png" id="230" name="Google Shape;23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4368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8727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3767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688062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2371"/>
            <a:ext cx="5238750" cy="3956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02371"/>
            <a:ext cx="5238750" cy="395614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 txBox="1"/>
          <p:nvPr/>
        </p:nvSpPr>
        <p:spPr>
          <a:xfrm>
            <a:off x="571500" y="1485304"/>
            <a:ext cx="11049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Execution: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Successfully integrated the patient directory with the frontend interface. Unfinished non-critical UI tweaks were returned to the product backlog.</a:t>
            </a:r>
            <a:endParaRPr/>
          </a:p>
        </p:txBody>
      </p:sp>
      <p:pic>
        <p:nvPicPr>
          <p:cNvPr descr="image.png" id="242" name="Google Shape;24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2740521"/>
            <a:ext cx="1381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1009650" y="3111996"/>
            <a:ext cx="45805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Successes</a:t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1009650" y="3540621"/>
            <a:ext cx="4362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1009650" y="3797796"/>
            <a:ext cx="43624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search query filters efficiently, handling multiple data points without latency.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1009650" y="4519612"/>
            <a:ext cx="43624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Patient records displaying distinct allergy warnings (highlighted in red) provide immense and immediate clinical value to the practitioners.</a:t>
            </a:r>
            <a:endParaRPr/>
          </a:p>
        </p:txBody>
      </p:sp>
      <p:pic>
        <p:nvPicPr>
          <p:cNvPr descr="image.png" id="247" name="Google Shape;24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9900" y="2740521"/>
            <a:ext cx="17335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/>
          <p:nvPr/>
        </p:nvSpPr>
        <p:spPr>
          <a:xfrm>
            <a:off x="6819900" y="3111996"/>
            <a:ext cx="45805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Challenges &amp; Results</a:t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6819900" y="3540621"/>
            <a:ext cx="4362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6819900" y="3797796"/>
            <a:ext cx="43624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 went wrong: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Handling the responsive layout for complex data tables on smaller mobile screens required extra, unplanned refactoring.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819900" y="4809083"/>
            <a:ext cx="43624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Outcome: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Despite UI challenges, a potentially shippable, highly functional product increment was successfully achieved.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2 Execution &amp; Review Notes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571500" y="2563266"/>
            <a:ext cx="503872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0284C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V1.0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571500" y="3992016"/>
            <a:ext cx="5038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SHIPPABLE INCREMENT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571500" y="4458741"/>
            <a:ext cx="50387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"Output of the sprint that is of high enough quality to be deployed for customer use."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581775" y="1772096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Increment Delivered After Sprint 2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581775" y="2200721"/>
            <a:ext cx="50387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culmination of our agile cycles resulted in a robust, live application encompassing: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7058025" y="2970162"/>
            <a:ext cx="4562475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fully functional web-based Hospital Management interface hosted securely at </a:t>
            </a:r>
            <a:r>
              <a:rPr b="1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tau-software.netlify.app</a:t>
            </a: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7058025" y="4010025"/>
            <a:ext cx="456247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resilient and secure personnel access portal.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7058025" y="4470945"/>
            <a:ext cx="45624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functional Receptionist Dashboard with a working Patient Directory.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7058025" y="5221337"/>
            <a:ext cx="45624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 intuitive Checkout/Billing Queue navigation structure for future extensibility.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Delivered Product Increment</a:t>
            </a:r>
            <a:endParaRPr/>
          </a:p>
        </p:txBody>
      </p:sp>
      <p:pic>
        <p:nvPicPr>
          <p:cNvPr descr="image.png" id="268" name="Google Shape;26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2275" y="29892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2275" y="40290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2275" y="44899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2275" y="5240387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571500" y="954583"/>
            <a:ext cx="5500687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 Showcase: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1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Secure Authentication</a:t>
            </a:r>
            <a:endParaRPr/>
          </a:p>
        </p:txBody>
      </p:sp>
      <p:pic>
        <p:nvPicPr>
          <p:cNvPr descr="image.png" id="279" name="Google Shape;2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/>
        </p:nvSpPr>
        <p:spPr>
          <a:xfrm>
            <a:off x="571500" y="234523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landing and login portal designed specifically for active medical personnel, ensuring strict access control.</a:t>
            </a:r>
            <a:endParaRPr/>
          </a:p>
        </p:txBody>
      </p:sp>
      <p:sp>
        <p:nvSpPr>
          <p:cNvPr id="281" name="Google Shape;281;p22"/>
          <p:cNvSpPr/>
          <p:nvPr/>
        </p:nvSpPr>
        <p:spPr>
          <a:xfrm>
            <a:off x="571500" y="3145333"/>
            <a:ext cx="5238750" cy="575220"/>
          </a:xfrm>
          <a:prstGeom prst="roundRect">
            <a:avLst>
              <a:gd fmla="val 132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1133475" y="3288208"/>
            <a:ext cx="4486275" cy="289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Clear clinic branding ("TAU Software Eng Clinic")</a:t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571500" y="3145333"/>
            <a:ext cx="28575" cy="5752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571500" y="3834854"/>
            <a:ext cx="5238750" cy="575220"/>
          </a:xfrm>
          <a:prstGeom prst="roundRect">
            <a:avLst>
              <a:gd fmla="val 132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1066800" y="3977729"/>
            <a:ext cx="45529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Intuitive Role Selection dropdown</a:t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571500" y="3834854"/>
            <a:ext cx="28575" cy="5752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571500" y="4524375"/>
            <a:ext cx="5238750" cy="575220"/>
          </a:xfrm>
          <a:prstGeom prst="roundRect">
            <a:avLst>
              <a:gd fmla="val 132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1085850" y="4667250"/>
            <a:ext cx="45339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Secure 4-digit passcode masking</a:t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571500" y="4524375"/>
            <a:ext cx="28575" cy="5752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571500" y="5213895"/>
            <a:ext cx="5238750" cy="575220"/>
          </a:xfrm>
          <a:prstGeom prst="roundRect">
            <a:avLst>
              <a:gd fmla="val 132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 txBox="1"/>
          <p:nvPr/>
        </p:nvSpPr>
        <p:spPr>
          <a:xfrm>
            <a:off x="904875" y="5356770"/>
            <a:ext cx="4714875" cy="289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"Unlock Ledger" restriction logic</a:t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571500" y="5213895"/>
            <a:ext cx="28575" cy="5752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3" name="Google Shape;29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575" y="3337619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575" y="4027140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0575" y="4716660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2" title="WhatsApp Image 2026-05-20 at 23.17.36 (2).jpe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79675" y="3950"/>
            <a:ext cx="5810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3"/>
          <p:cNvSpPr txBox="1"/>
          <p:nvPr/>
        </p:nvSpPr>
        <p:spPr>
          <a:xfrm>
            <a:off x="571500" y="954583"/>
            <a:ext cx="5500687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 Showcase: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1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Receptionist Dashboard</a:t>
            </a:r>
            <a:endParaRPr/>
          </a:p>
        </p:txBody>
      </p:sp>
      <p:pic>
        <p:nvPicPr>
          <p:cNvPr descr="image.png" id="304" name="Google Shape;30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3"/>
          <p:cNvSpPr txBox="1"/>
          <p:nvPr/>
        </p:nvSpPr>
        <p:spPr>
          <a:xfrm>
            <a:off x="571500" y="234523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core operational hub for clinic receptionists, optimizing patient data management.</a:t>
            </a: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571500" y="3145333"/>
            <a:ext cx="5238750" cy="575220"/>
          </a:xfrm>
          <a:prstGeom prst="roundRect">
            <a:avLst>
              <a:gd fmla="val 132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 txBox="1"/>
          <p:nvPr/>
        </p:nvSpPr>
        <p:spPr>
          <a:xfrm>
            <a:off x="1104900" y="3288208"/>
            <a:ext cx="45148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Navigational Tabs (Billing Queue vs. Directory)</a:t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571500" y="3145333"/>
            <a:ext cx="28575" cy="5752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571500" y="3834854"/>
            <a:ext cx="5238750" cy="575220"/>
          </a:xfrm>
          <a:prstGeom prst="roundRect">
            <a:avLst>
              <a:gd fmla="val 132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1085850" y="3977729"/>
            <a:ext cx="45339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Dynamic, multi-parameter search functionality</a:t>
            </a: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571500" y="3834854"/>
            <a:ext cx="28575" cy="5752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571500" y="4524375"/>
            <a:ext cx="5238750" cy="575220"/>
          </a:xfrm>
          <a:prstGeom prst="roundRect">
            <a:avLst>
              <a:gd fmla="val 132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 txBox="1"/>
          <p:nvPr/>
        </p:nvSpPr>
        <p:spPr>
          <a:xfrm>
            <a:off x="1133475" y="4667250"/>
            <a:ext cx="4486275" cy="289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Prominent "+ New Patient" CTA button</a:t>
            </a:r>
            <a:endParaRPr/>
          </a:p>
        </p:txBody>
      </p:sp>
      <p:sp>
        <p:nvSpPr>
          <p:cNvPr id="314" name="Google Shape;314;p23"/>
          <p:cNvSpPr/>
          <p:nvPr/>
        </p:nvSpPr>
        <p:spPr>
          <a:xfrm>
            <a:off x="571500" y="4524375"/>
            <a:ext cx="28575" cy="5752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571500" y="5213895"/>
            <a:ext cx="5238750" cy="575220"/>
          </a:xfrm>
          <a:prstGeom prst="roundRect">
            <a:avLst>
              <a:gd fmla="val 132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3"/>
          <p:cNvSpPr txBox="1"/>
          <p:nvPr/>
        </p:nvSpPr>
        <p:spPr>
          <a:xfrm>
            <a:off x="1085850" y="5356770"/>
            <a:ext cx="45339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Patient Cards with critical health/allergy alerts</a:t>
            </a:r>
            <a:endParaRPr/>
          </a:p>
        </p:txBody>
      </p:sp>
      <p:sp>
        <p:nvSpPr>
          <p:cNvPr id="317" name="Google Shape;317;p23"/>
          <p:cNvSpPr/>
          <p:nvPr/>
        </p:nvSpPr>
        <p:spPr>
          <a:xfrm>
            <a:off x="571500" y="5213895"/>
            <a:ext cx="28575" cy="5752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8" name="Google Shape;31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575" y="3337619"/>
            <a:ext cx="2000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575" y="4027140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0575" y="471666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0575" y="5406181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3" title="WhatsApp Image 2026-05-20 at 23.17.36 (1).jpe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81750" y="3950"/>
            <a:ext cx="5810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7" name="Google Shape;3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8023"/>
            <a:ext cx="3492549" cy="36476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48023"/>
            <a:ext cx="3492549" cy="36476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48023"/>
            <a:ext cx="3492549" cy="36476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438548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4"/>
          <p:cNvSpPr txBox="1"/>
          <p:nvPr/>
        </p:nvSpPr>
        <p:spPr>
          <a:xfrm>
            <a:off x="866775" y="3286273"/>
            <a:ext cx="30470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Individuals &amp; Interactions</a:t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866775" y="3714898"/>
            <a:ext cx="2901999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actively prioritized team collaboration and daily communication over strict processes and tools during our stand-up discussions.</a:t>
            </a:r>
            <a:endParaRPr/>
          </a:p>
        </p:txBody>
      </p:sp>
      <p:pic>
        <p:nvPicPr>
          <p:cNvPr descr="image.png" id="334" name="Google Shape;334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438548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4"/>
          <p:cNvSpPr txBox="1"/>
          <p:nvPr/>
        </p:nvSpPr>
        <p:spPr>
          <a:xfrm>
            <a:off x="4645074" y="3286273"/>
            <a:ext cx="30470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Working Software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4645074" y="3714898"/>
            <a:ext cx="2901999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focused our energy on delivering a functional, value-driven web app over producing exhaustive, static documentation.</a:t>
            </a:r>
            <a:endParaRPr/>
          </a:p>
        </p:txBody>
      </p:sp>
      <p:pic>
        <p:nvPicPr>
          <p:cNvPr descr="image.png" id="337" name="Google Shape;33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438548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4"/>
          <p:cNvSpPr txBox="1"/>
          <p:nvPr/>
        </p:nvSpPr>
        <p:spPr>
          <a:xfrm>
            <a:off x="8423374" y="3286273"/>
            <a:ext cx="30470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Responding to Change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8423374" y="3714898"/>
            <a:ext cx="2901999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remained flexible, adapting our UI layouts continuously based on the feedback received during sprint reviews.</a:t>
            </a:r>
            <a:endParaRPr/>
          </a:p>
        </p:txBody>
      </p:sp>
      <p:pic>
        <p:nvPicPr>
          <p:cNvPr descr="image.png" id="340" name="Google Shape;340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4887" y="2609998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83187" y="2609998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94824" y="260999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Agile Manifesto Application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75" y="196691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939504"/>
            <a:ext cx="25908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615779"/>
            <a:ext cx="24384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5"/>
          <p:cNvSpPr txBox="1"/>
          <p:nvPr/>
        </p:nvSpPr>
        <p:spPr>
          <a:xfrm>
            <a:off x="6381750" y="1646187"/>
            <a:ext cx="55006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Access our Deliverables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6381750" y="2074812"/>
            <a:ext cx="5238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All project files, historical data, and live deployments have been securely stored and published.</a:t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6381750" y="4339679"/>
            <a:ext cx="5500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Artefacts Shared:</a:t>
            </a:r>
            <a:endParaRPr/>
          </a:p>
        </p:txBody>
      </p:sp>
      <p:pic>
        <p:nvPicPr>
          <p:cNvPr descr="image.png" id="355" name="Google Shape;35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075" y="2043112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2250" y="304427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2250" y="372055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5"/>
          <p:cNvSpPr txBox="1"/>
          <p:nvPr/>
        </p:nvSpPr>
        <p:spPr>
          <a:xfrm>
            <a:off x="6667500" y="4634954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Product Backlog file (CSV/Excel)</a:t>
            </a:r>
            <a:endParaRPr/>
          </a:p>
        </p:txBody>
      </p:sp>
      <p:sp>
        <p:nvSpPr>
          <p:cNvPr id="359" name="Google Shape;359;p25"/>
          <p:cNvSpPr txBox="1"/>
          <p:nvPr/>
        </p:nvSpPr>
        <p:spPr>
          <a:xfrm>
            <a:off x="6667500" y="5000625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Sprint 1 &amp; 2 Planning documents</a:t>
            </a:r>
            <a:endParaRPr/>
          </a:p>
        </p:txBody>
      </p:sp>
      <p:sp>
        <p:nvSpPr>
          <p:cNvPr id="360" name="Google Shape;360;p25"/>
          <p:cNvSpPr txBox="1"/>
          <p:nvPr/>
        </p:nvSpPr>
        <p:spPr>
          <a:xfrm>
            <a:off x="6667500" y="5366295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Sprint Review Notes</a:t>
            </a:r>
            <a:endParaRPr/>
          </a:p>
        </p:txBody>
      </p:sp>
      <p:sp>
        <p:nvSpPr>
          <p:cNvPr id="361" name="Google Shape;361;p25"/>
          <p:cNvSpPr txBox="1"/>
          <p:nvPr/>
        </p:nvSpPr>
        <p:spPr>
          <a:xfrm>
            <a:off x="6667500" y="5731966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Presentation slides (PPT/HTML)</a:t>
            </a:r>
            <a:endParaRPr/>
          </a:p>
        </p:txBody>
      </p:sp>
      <p:pic>
        <p:nvPicPr>
          <p:cNvPr descr="image.png" id="362" name="Google Shape;362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67500" y="5043487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67500" y="5409158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67500" y="5774828"/>
            <a:ext cx="1619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Artefacts &amp; Source Code</a:t>
            </a:r>
            <a:endParaRPr/>
          </a:p>
        </p:txBody>
      </p:sp>
      <p:pic>
        <p:nvPicPr>
          <p:cNvPr descr="image.png" id="366" name="Google Shape;366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81750" y="465400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81750" y="50196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81750" y="538534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81750" y="575101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67500" y="4677816"/>
            <a:ext cx="1619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1259383"/>
            <a:ext cx="7620000" cy="43392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0" y="1840408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6"/>
          <p:cNvSpPr txBox="1"/>
          <p:nvPr/>
        </p:nvSpPr>
        <p:spPr>
          <a:xfrm>
            <a:off x="2705576" y="3078658"/>
            <a:ext cx="67808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Demonstration</a:t>
            </a:r>
            <a:endParaRPr/>
          </a:p>
        </p:txBody>
      </p:sp>
      <p:sp>
        <p:nvSpPr>
          <p:cNvPr id="379" name="Google Shape;379;p26"/>
          <p:cNvSpPr txBox="1"/>
          <p:nvPr/>
        </p:nvSpPr>
        <p:spPr>
          <a:xfrm>
            <a:off x="2867025" y="3869233"/>
            <a:ext cx="64579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Click play to view the live demonstration of the TAU Software Eng Clinic system, featuring secure login and patient search functionality.</a:t>
            </a:r>
            <a:endParaRPr/>
          </a:p>
        </p:txBody>
      </p:sp>
      <p:pic>
        <p:nvPicPr>
          <p:cNvPr descr="image.png" id="380" name="Google Shape;38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91225" y="2126158"/>
            <a:ext cx="2857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